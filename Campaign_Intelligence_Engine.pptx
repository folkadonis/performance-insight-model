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-600" y="-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619695" y="-914400"/>
            <a:ext cx="5486400" cy="54864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65615" y="182880"/>
            <a:ext cx="3200400" cy="3200400"/>
          </a:xfrm>
          <a:prstGeom prst="ellipse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2880" y="4572000"/>
            <a:ext cx="1828800" cy="1828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Campaign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7DD3FC"/>
                </a:solidFill>
                <a:latin typeface="Calibri"/>
              </a:rPr>
              <a:t>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0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  <a:latin typeface="Calibri"/>
              </a:rPr>
              <a:t>AI-Powered Multi-Tenant Marketing Analytics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84448"/>
            <a:ext cx="5029200" cy="3657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3822191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111D30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369A1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ML Score
Dimensions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3822191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111D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393192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  <a:latin typeface="Calibri"/>
              </a:rPr>
              <a:t>5–10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4526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AI Insights
per Campaign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3822191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111D3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35624" y="393192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  <a:latin typeface="Calibri"/>
              </a:rPr>
              <a:t>3-Tier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526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Model
Fallback Chain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3822191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111D30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51976" y="393192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45309"/>
                </a:solidFill>
                <a:latin typeface="Calibri"/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4526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API
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1908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Resulticks Solution Inc.  ·  Architecture &amp; ML Workflow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Three integrated capabilities in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11368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Resulticks Solution Inc.  ·  Campaign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56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3667658" cy="5376672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1097280"/>
            <a:ext cx="3667658" cy="5376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1097280"/>
            <a:ext cx="3667658" cy="82296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2252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Calibr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280160"/>
            <a:ext cx="279897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Automated ML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1993392"/>
            <a:ext cx="339333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Campaigns are scored across 13 dimensions using XGBoost + LightGBM models trained on live Resulticks data. A 3-tier fallback (BU → Tenant → Industry) ensures every campaign gets a score, even with sparse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3913632"/>
            <a:ext cx="5486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822192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42-feature vector from campaign + audience + channel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4297680"/>
            <a:ext cx="5486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206240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9 regression targets → 13 normalised score dimensions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4681728"/>
            <a:ext cx="5486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590288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Scores displayed as percentages with benchmark delta (±pp)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8218" y="1143000"/>
            <a:ext cx="3667658" cy="5376672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92498" y="1097280"/>
            <a:ext cx="3667658" cy="5376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92498" y="1097280"/>
            <a:ext cx="3667658" cy="82296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75378" y="12252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Calibri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4018" y="1280160"/>
            <a:ext cx="279897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LLM Insight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7090" y="1993392"/>
            <a:ext cx="339333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A structured ~1,000-token context block (ML scores + raw metrics) is sent to Ollama qwen2.5:14b. The model returns 5–10 structured InsightObjects with observations, root causes, recommendations and business impact.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7090" y="3913632"/>
            <a:ext cx="54864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4250" y="3822192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10 insight types: Performance, Audience, Channel, Journey…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57090" y="4297680"/>
            <a:ext cx="54864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4250" y="4206240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Each insight: confidence 50–99, category, recommendation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7090" y="4681728"/>
            <a:ext cx="54864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4250" y="4590288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Resulticks proxy format decoded automatically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19236" y="1143000"/>
            <a:ext cx="3667658" cy="5376672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73516" y="1097280"/>
            <a:ext cx="3667658" cy="5376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73516" y="1097280"/>
            <a:ext cx="3667658" cy="8229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56396" y="12252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Calibri"/>
              </a:rP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5036" y="1280160"/>
            <a:ext cx="279897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REST API + 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8108" y="1993392"/>
            <a:ext cx="339333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FastAPI async backend on port 8000 with 34 endpoints across 7 folders. Insights are persisted to PostgreSQL for fast retrieval. A full Postman collection is included for immediate team testing.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8108" y="3913632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75268" y="3822192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 generate-ollama, generate-from-campaign, predict, score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38108" y="4297680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75268" y="4206240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GET /insights/{campaign_id} returns cached insight set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8108" y="4681728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75268" y="4590288"/>
            <a:ext cx="328361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34-request Postman collection, 7 folders, ready to import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Offline ML training pipeline (left) + Online inference pipeline (right)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11368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Resulticks Solution Inc.  ·  Campaign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56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13</a:t>
            </a:r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69848"/>
            <a:ext cx="1155161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ML 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Offline batch process  ·  trainer.py / train_all.py  ·  Min 20 rows per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11368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Resulticks Solution Inc.  ·  Campaign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56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152144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111556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1115568"/>
            <a:ext cx="3667658" cy="475488"/>
          </a:xfrm>
          <a:prstGeom prst="roundRect">
            <a:avLst>
              <a:gd name="adj" fmla="val 12000"/>
            </a:avLst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1208" y="1207008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12070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69A1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225296"/>
            <a:ext cx="30732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① Data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618488"/>
            <a:ext cx="348477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369A1"/>
                </a:solidFill>
                <a:latin typeface="Calibri"/>
              </a:rPr>
              <a:t>data_loader.py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1865376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Pull campaignmetadata from MySQL via ProxySQL (10.200.2.195:6033)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2157984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Filter by scope: BU / Tenant / Industry vertical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450592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Enforce minimum 20 rows per scope — skip if insufficient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2743200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Convert Decimal → float (PyMySQL type mismatch fix)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5714" y="1346962"/>
            <a:ext cx="0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097426" y="1261872"/>
            <a:ext cx="128016" cy="1828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98594" y="1152144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62018" y="111556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62018" y="1115568"/>
            <a:ext cx="3667658" cy="47548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371746" y="1207008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1746" y="12070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7506" y="1225296"/>
            <a:ext cx="30732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② Feature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1746" y="1618488"/>
            <a:ext cx="348477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C3AED"/>
                </a:solidFill>
                <a:latin typeface="Calibri"/>
              </a:rPr>
              <a:t>feature_builder.py  ·  row_to_features()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1746" y="1865376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Build 42-feature numpy array per campaign 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1746" y="2157984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7 categories: Reach, Email, SMS/WA, Metadata, Historical, Audience, Deltas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1746" y="2450592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Type-code encoding: Promotional→M, Triggered→S, Lifecycle→L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1746" y="2743200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Extract 9 regression target values per row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66252" y="1346962"/>
            <a:ext cx="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47964" y="1261872"/>
            <a:ext cx="128016" cy="1828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49132" y="1152144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12556" y="111556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12556" y="1115568"/>
            <a:ext cx="3667658" cy="475488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2284" y="1207008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2284" y="12070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88044" y="1225296"/>
            <a:ext cx="30732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③ Model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2284" y="1618488"/>
            <a:ext cx="348477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333EA"/>
                </a:solidFill>
                <a:latin typeface="Calibri"/>
              </a:rPr>
              <a:t>trainer.py  ·  XGBoost + LightGBM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2284" y="1865376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XGBoost → BU scope and Tenant scope 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2284" y="2157984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LightGBM → Industry-wide models (broadest coverage)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2284" y="2450592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Persist: estimator + val_mae + val_r2 + quantiles → *.joblib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2284" y="2743200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10 bundle files in ml/trained_models/  ·  3 scope levels × targets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3-Tier Model Bundle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ml/registry.py  ·  get_model(scope_level, scope_id)  ·  10 .joblib bundles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11368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Resulticks Solution Inc.  ·  Campaign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56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6128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111556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1115568"/>
            <a:ext cx="3667658" cy="54864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20700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261872"/>
            <a:ext cx="31007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BU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" y="1755648"/>
            <a:ext cx="1005840" cy="27432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" y="17739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Calibri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075688"/>
            <a:ext cx="34847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BU_{tenant_uuid}_{bu_id}_{target}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2377440"/>
            <a:ext cx="348477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Most granular — trained on campaigns for a specific Business Unit within a tenant. Highest accuracy when data volume allows.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3813048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369417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Requires ≥ 20 rows for the BU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" y="4178808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" y="405993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First choice in the fallback chain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" y="4544568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442569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Separate model per regression 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" y="4910328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479145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Captures product-level audience behaviour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5714" y="3770122"/>
            <a:ext cx="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97426" y="3685032"/>
            <a:ext cx="128016" cy="1828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07738" y="116128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62018" y="111556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262018" y="1115568"/>
            <a:ext cx="3667658" cy="54864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71746" y="120700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9218" y="1261872"/>
            <a:ext cx="31007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Tenant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1746" y="1755648"/>
            <a:ext cx="1005840" cy="27432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71746" y="17739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1746" y="2075688"/>
            <a:ext cx="34847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Tenant_{tenant_uuid}_{target}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1746" y="2377440"/>
            <a:ext cx="348477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Mid-level fallback — combines all BUs under a tenant. Used when any single BU has insufficient training data.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1746" y="3813048"/>
            <a:ext cx="548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99762" y="369417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Broader corpus than BU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1746" y="4178808"/>
            <a:ext cx="548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99762" y="405993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Covers cross-BU campaign patterns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71746" y="4544568"/>
            <a:ext cx="548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99762" y="442569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Activated when BU bundle missing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71746" y="4910328"/>
            <a:ext cx="54864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99762" y="479145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One model per tenant per target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66252" y="3770122"/>
            <a:ext cx="0" cy="190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947964" y="3685032"/>
            <a:ext cx="128016" cy="1828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58276" y="116128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112556" y="1115568"/>
            <a:ext cx="3667658" cy="5321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112556" y="1115568"/>
            <a:ext cx="3667658" cy="54864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2284" y="120700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9756" y="1261872"/>
            <a:ext cx="31007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Industry Model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2284" y="1755648"/>
            <a:ext cx="1005840" cy="27432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2284" y="17739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333EA"/>
                </a:solidFill>
                <a:latin typeface="Calibri"/>
              </a:rPr>
              <a:t>LightGBM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2284" y="2075688"/>
            <a:ext cx="34847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Industry_global_{target}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2284" y="2377440"/>
            <a:ext cx="348477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Broadest fallback — trained across all tenants in the same industry vertical. Always available, ensures zero cold-start failures.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2284" y="3813048"/>
            <a:ext cx="54864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0300" y="369417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IND_BANKING · IND_RETAIL · IND_TELECOM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2284" y="4178808"/>
            <a:ext cx="54864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50300" y="405993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Lowest specificity, highest coverage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2284" y="4544568"/>
            <a:ext cx="54864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50300" y="442569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LightGBM chosen for speed at industry scale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2284" y="4910328"/>
            <a:ext cx="54864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50300" y="4791456"/>
            <a:ext cx="334761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Used when both BU + Tenant bundles missing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6108192"/>
            <a:ext cx="11368735" cy="347472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76072" y="616305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C3AED"/>
                </a:solidFill>
                <a:latin typeface="Calibri"/>
              </a:rPr>
              <a:t>Fallback chain:  BU Model  →  Tenant Model  →  Industry Model   ·   9 regression targets per bundle   ·   bundle = estimator + quantiles + metadata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Online Inference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FastAPI async  ·  port 8000  ·  Request → Score → Insights in one POST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11368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Resulticks Solution Inc.  ·  Campaign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56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170432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1133856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1133856"/>
            <a:ext cx="2127443" cy="914400"/>
          </a:xfrm>
          <a:prstGeom prst="roundRect">
            <a:avLst>
              <a:gd name="adj" fmla="val 12000"/>
            </a:avLst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6601" y="120700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36776"/>
            <a:ext cx="19445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API
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21408"/>
            <a:ext cx="19445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369A1"/>
                </a:solidFill>
                <a:latin typeface="Calibri"/>
              </a:rPr>
              <a:t>app/main.py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32304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POST /api/v1/insights/
generate-ollama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73552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Pydantic input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tenant_id · bu_id ·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57211" y="1584706"/>
            <a:ext cx="36576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75499" y="1499616"/>
            <a:ext cx="128016" cy="1828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58379" y="1170432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21803" y="1133856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21803" y="1133856"/>
            <a:ext cx="2127443" cy="9144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56924" y="120700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3243" y="1636776"/>
            <a:ext cx="19445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Feature
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3243" y="2121408"/>
            <a:ext cx="19445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F46E5"/>
                </a:solidFill>
                <a:latin typeface="Calibri"/>
              </a:rPr>
              <a:t>extractor.py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3243" y="2432304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42-dim numpy array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3243" y="3273552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Rates × size → 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3243" y="4114800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Type-code encoding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7534" y="1584706"/>
            <a:ext cx="36576" cy="190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885822" y="1499616"/>
            <a:ext cx="128016" cy="1828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68702" y="1170432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32126" y="1133856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032126" y="1133856"/>
            <a:ext cx="2127443" cy="9144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67247" y="120700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3566" y="1636776"/>
            <a:ext cx="19445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ML
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3566" y="2121408"/>
            <a:ext cx="19445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563EB"/>
                </a:solidFill>
                <a:latin typeface="Calibri"/>
              </a:rPr>
              <a:t>ml_scorer.py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3566" y="2432304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3-tier model 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3566" y="3273552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13 score dimensions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3566" y="4114800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Benchmark delta ±pp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7857" y="1584706"/>
            <a:ext cx="36576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196145" y="1499616"/>
            <a:ext cx="128016" cy="1828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379025" y="1170432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342449" y="1133856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342449" y="1133856"/>
            <a:ext cx="2127443" cy="9144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77570" y="120700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3889" y="1636776"/>
            <a:ext cx="19445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Context
Builder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33889" y="2121408"/>
            <a:ext cx="19445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59669"/>
                </a:solidFill>
                <a:latin typeface="Calibri"/>
              </a:rPr>
              <a:t>ollama_insights.py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33889" y="2432304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Scores as XX.X%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33889" y="3273552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All channels + metrics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33889" y="4114800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~1,000-token block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88180" y="1584706"/>
            <a:ext cx="36576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506468" y="1499616"/>
            <a:ext cx="128016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689348" y="1170432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652772" y="1133856"/>
            <a:ext cx="2127443" cy="5266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652772" y="1133856"/>
            <a:ext cx="2127443" cy="9144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487893" y="120700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44212" y="1636776"/>
            <a:ext cx="19445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Ollama
LLM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44212" y="2121408"/>
            <a:ext cx="19445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6A34A"/>
                </a:solidFill>
                <a:latin typeface="Calibri"/>
              </a:rPr>
              <a:t>qwen2.5:14b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44212" y="2432304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POST to proxy endpoint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44212" y="3273552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Decode data.output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44212" y="4114800"/>
            <a:ext cx="1944563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›  5–10 InsightObjects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6108192"/>
            <a:ext cx="11368735" cy="347472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76072" y="616305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A34A"/>
                </a:solidFill>
                <a:latin typeface="Calibri"/>
              </a:rPr>
              <a:t>Output: InsightObject[]  →  persisted to PostgreSQL (campaign_insights table)  ·  GET /api/v1/insights/{campaign_id} retrieves cached set for CSR display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ML Scoring — 13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MLScoringService  ·  services/ml_scorer.py  ·  All scores 0–100% + benchmark delta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11368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Resulticks Solution Inc.  ·  Campaign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56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10642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107899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107899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1208" y="117043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117957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118872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369A1"/>
                </a:solidFill>
                <a:latin typeface="Calibri"/>
              </a:rPr>
              <a:t>reach_score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149961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Audience reach effectiveness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2143" y="117043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22143" y="11887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6815" y="110642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99383" y="107899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299383" y="107899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409111" y="117043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09111" y="117957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0007" y="118872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engagement_quality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7399" y="149961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Overall email engagement quality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10047" y="117043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10047" y="11887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4719" y="110642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87287" y="107899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87287" y="107899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97015" y="117043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7015" y="117957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7911" y="118872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channel_efficiency_email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149961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Email ROI vs BU benchmark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97951" y="117043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97951" y="11887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02623" y="110642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075191" y="107899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075191" y="107899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184919" y="117043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84919" y="117957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5815" y="118872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channel_efficiency_sms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3207" y="149961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SMS delivery + click performance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185855" y="117043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185855" y="11887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252374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11480" y="249631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11480" y="249631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21208" y="258775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1208" y="259689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" y="260604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33EA"/>
                </a:solidFill>
                <a:latin typeface="Calibri"/>
              </a:rPr>
              <a:t>channel_efficiency_wa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" y="291693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WhatsApp read + reply engagement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22143" y="258775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522143" y="26060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26815" y="252374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299383" y="249631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3299383" y="249631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3409111" y="258775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09111" y="259689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20007" y="260604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audience_fit_score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7399" y="291693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Segment relevance for campaign type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10047" y="258775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10047" y="26060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4719" y="252374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6187287" y="249631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187287" y="249631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297015" y="258775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97015" y="259689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7911" y="260604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timing_score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15303" y="291693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Send-hour + day-of-week optimality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97951" y="258775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97951" y="26060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02623" y="252374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075191" y="249631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075191" y="249631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9184919" y="258775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84919" y="259689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95815" y="260604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5309"/>
                </a:solidFill>
                <a:latin typeface="Calibri"/>
              </a:rPr>
              <a:t>journey_effectiveness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03207" y="291693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Multi-touch path completion rate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185855" y="258775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185855" y="26060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8912" y="394106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411480" y="391363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11480" y="391363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21208" y="400507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21208" y="401421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2104" y="402336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Calibri"/>
              </a:rPr>
              <a:t>frequency_risk_score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9496" y="433425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Over-messaging / fatigue risk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22143" y="400507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522143" y="4023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326815" y="394106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3299383" y="391363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3299383" y="391363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3409111" y="400507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09111" y="401421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20007" y="402336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churn_signal_score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27399" y="433425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Predicted churn based on engagement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10047" y="400507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410047" y="4023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14719" y="394106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6187287" y="391363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6187287" y="391363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6297015" y="400507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97015" y="401421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07911" y="402336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cross_sell_opportunity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15303" y="433425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Likelihood to respond to cross-sell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297951" y="400507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97951" y="4023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02623" y="394106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9075191" y="391363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9075191" y="391363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9184919" y="400507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184919" y="401421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95815" y="402336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conversion_probability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203207" y="433425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End-to-end conversion (XGBoost)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1185855" y="400507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1185855" y="4023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38912" y="5358384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411480" y="5330952"/>
            <a:ext cx="2705023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411480" y="5330952"/>
            <a:ext cx="45720" cy="123444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521208" y="5422392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21208" y="5431536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2104" y="5440680"/>
            <a:ext cx="2192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Calibri"/>
              </a:rPr>
              <a:t>model_confidence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39496" y="5751576"/>
            <a:ext cx="25221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ML prediction confidence level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522143" y="5422392"/>
            <a:ext cx="548640" cy="219456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522143" y="54406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0–100%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687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API Endpoints &amp; Postman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34 requests  ·  7 folders  ·  base_url = http://localhost:8000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11368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Resulticks Solution Inc.  ·  Campaign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56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115568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" y="1078992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1078992"/>
            <a:ext cx="2705023" cy="438912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170432"/>
            <a:ext cx="25221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🟢 Health &amp;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591056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GET /health — server + DB liveness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1920240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GET /api/v1/ml/models — list loaded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5959" y="1115568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99383" y="1078992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99383" y="1078992"/>
            <a:ext cx="2705023" cy="43891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9111" y="1170432"/>
            <a:ext cx="25221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🤖 Ollama Insights  (4 variants)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9111" y="1591056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POST /api/v1/insights/generate-ollama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111" y="1920240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Minimal · Full · SMS+WA lifecycle · High-risk churn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3863" y="1115568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87287" y="1078992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87287" y="1078992"/>
            <a:ext cx="2705023" cy="43891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7015" y="1170432"/>
            <a:ext cx="25221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🔗 Full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7015" y="1591056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POST /api/v1/insights/generate — full ML+LLM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7015" y="1920240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POST /insights/generate-from-campaign — DB-driven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11767" y="1115568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75191" y="1078992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75191" y="1078992"/>
            <a:ext cx="2705023" cy="438912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4919" y="1170432"/>
            <a:ext cx="25221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🧠 ML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4919" y="1591056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POST /api/v1/ml/train — trigger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4919" y="1920240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GET /api/v1/ml/models — registry 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" y="3730752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11480" y="3694176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11480" y="3694176"/>
            <a:ext cx="2705023" cy="43891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1208" y="3785616"/>
            <a:ext cx="25221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📊 Predict &amp;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" y="4206240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POST /api/v1/ml/predict — raw regression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" y="4535424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POST /api/v1/ml/score — 13-dim scoring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35959" y="3730752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299383" y="3694176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299383" y="3694176"/>
            <a:ext cx="2705023" cy="438912"/>
          </a:xfrm>
          <a:prstGeom prst="roundRect">
            <a:avLst>
              <a:gd name="adj" fmla="val 12000"/>
            </a:avLst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09111" y="3785616"/>
            <a:ext cx="25221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📐 Benchmarks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09111" y="4206240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GET /api/v1/benchmarks/{scope}/{scope_id}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9111" y="4535424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Scopes: industry · market · tenant · bu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3863" y="3730752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D1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187287" y="3694176"/>
            <a:ext cx="2705023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187287" y="3694176"/>
            <a:ext cx="2705023" cy="438912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97015" y="3785616"/>
            <a:ext cx="25221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⚡ Workflow 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7015" y="4206240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End-to-end scenario chains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7015" y="4535424"/>
            <a:ext cx="252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›  Cold-start · Warm-start · Anomaly detection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6108192"/>
            <a:ext cx="11368735" cy="347472"/>
          </a:xfrm>
          <a:prstGeom prst="roundRect">
            <a:avLst>
              <a:gd name="adj" fmla="val 12000"/>
            </a:avLst>
          </a:prstGeom>
          <a:solidFill>
            <a:srgbClr val="F0F9FF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6072" y="616305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369A1"/>
                </a:solidFill>
                <a:latin typeface="Calibri"/>
              </a:rPr>
              <a:t>Import: File → Import → Campaign_Intelligence_Engine.postman_collection.json  ·  Set collection variable base_url = http://localhost:8000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02575" y="-731520"/>
            <a:ext cx="5029200" cy="5029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31375" y="457200"/>
            <a:ext cx="2743200" cy="2743200"/>
          </a:xfrm>
          <a:prstGeom prst="ellipse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" y="4846320"/>
            <a:ext cx="1645920" cy="1645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DD3F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4114800" cy="3657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🔬  Deep-dive on any architecture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📊  Model accuracy benchmarks &amp; retraining 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🤖  LLM prompt tuning &amp; insight quality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⚡  Deployment, scaling, and monitoring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Campaign Performance Intelligence Engine  ·  Resulticks Solution Inc.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1165</Words>
  <Application>Microsoft Macintosh PowerPoint</Application>
  <PresentationFormat>Custom</PresentationFormat>
  <Paragraphs>219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Folk Nallathambi</cp:lastModifiedBy>
  <cp:revision>2</cp:revision>
  <dcterms:created xsi:type="dcterms:W3CDTF">2013-01-27T09:14:16Z</dcterms:created>
  <dcterms:modified xsi:type="dcterms:W3CDTF">2026-07-10T10:57:21Z</dcterms:modified>
  <cp:category/>
</cp:coreProperties>
</file>